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6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presentation introduces a machine-learning pipeline we developed to predict catalytic activity using key physicochemical descriptors. We benchmark six regression and four classification algorithms, compare their performance, and discuss real-world applicability.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Catalysis underpins over 90% of industrial chemical processes. The bottleneck is not synthesis — it is knowing which catalyst to synthesize. ML changes that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objectives map directly to the four major functions in the codebase: generate_dataset, run_regression, run_classification, and the suite of plot functions. Each objective is independently testable and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dual-mode design is deliberate: regression gives exact predictions for final candidate selection; classification enables fast triage of thousands of candidates in high-throughput screening. Together they cover both stages of a real catalyst discovery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synthetic dataset mimics real experimental data: surface area strongly drives activity (coefficient 0.40), while a larger band gap suppresses it (−5.0). Missing values (5% random) test robustness. StandardScaler is placed after split to prevent data leakage from test into train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 selection intentionally spans the bias-variance spectrum: linear models offer maximum interpretability; tree ensembles (Random Forest) offer best generalisation. KNN serves as a non-parametric sanity check. Hyperparameters are set conservatively to avoid overfit on the 500-sample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main() function orchestrates this exact 7-step pipeline sequentially. Every step is encapsulated in its own function, making the pipeline modular — you can swap in a real CSV dataset at Step 1 with a single line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techniques form the methodological backbone of the pipeline. Each solves a specific problem: scaling prevents KNN from being dominated by large-range features; regularisation prevents overfitting; the train-median threshold ensures honest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shown are typical ranges for a 500-sample synthetic dataset with 80/20 split. Random Forest consistently wins due to variance reduction via bagging. Note: these are indicative ranges — actual values depend on the random seed and noise realisation. Run the code to get exact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limitations are known design trade-offs for a demonstration pipeline. In production: replace synthetic data with DFT-computed or experimental datasets, add k-fold CV, implement Bayesian hyperparameter search, and consider graph neural networks for structure-aware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pipeline's value scales with the quality of the input dataset. In all these applications, the workflow remains identical — only the feature set and training data change. This is the power of a well-structured, modular ML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impactful near-term step is replacing synthetic data with real DFT-computed or experimental data from public databases like Catalysis-Hub.org or the Materials Project. GNNs represent the frontier — they encode bonding topology directly, which linear feature vectors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pipeline first to generate all output files in the /outputs directory. Then insert these PNG files into the corresponding slides. Each plot is saved at 150 DPI, suitable for full-slide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key contributions: the pipeline, the dual-mode approach, the clean methodology, and the roadmap to real-world deployment. Invite questions. The code is clean and well-commented — offer to share it with interested collaborators.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Rapid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Catalytic Activity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Pipeline for Accelerating Catalyst Discovery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1920240" cy="347472"/>
          </a:xfrm>
          <a:prstGeom prst="roundRect">
            <a:avLst/>
          </a:prstGeom>
          <a:solidFill>
            <a:srgbClr val="16355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87752" y="3154680"/>
            <a:ext cx="1920240" cy="347472"/>
          </a:xfrm>
          <a:prstGeom prst="roundRect">
            <a:avLst/>
          </a:prstGeom>
          <a:solidFill>
            <a:srgbClr val="16355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72584" y="3154680"/>
            <a:ext cx="1920240" cy="347472"/>
          </a:xfrm>
          <a:prstGeom prst="roundRect">
            <a:avLst/>
          </a:prstGeom>
          <a:solidFill>
            <a:srgbClr val="16355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57416" y="3154680"/>
            <a:ext cx="1920240" cy="347472"/>
          </a:xfrm>
          <a:prstGeom prst="roundRect">
            <a:avLst/>
          </a:prstGeom>
          <a:solidFill>
            <a:srgbClr val="16355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7416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" y="4343400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Prasanna(2024umt0177) || Kadali Suchir(2024uee0129) || Dasari Ruthwik(2024ucs0086)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Why Predict Catalytic Activity?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3566160"/>
          </a:xfrm>
          <a:prstGeom prst="rect">
            <a:avLst/>
          </a:prstGeom>
          <a:solidFill>
            <a:srgbClr val="13284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0700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Bottleneck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591056"/>
            <a:ext cx="2368296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catalyst screening is slow, resource-intensive, and often requires months of synthesis-test cycles to identify viable candidates.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3566160"/>
          </a:xfrm>
          <a:prstGeom prst="rect">
            <a:avLst/>
          </a:prstGeom>
          <a:solidFill>
            <a:srgbClr val="13284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20700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of the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10712" y="1591056"/>
            <a:ext cx="2368296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material combinations exist. Testing every candidate is neither economically nor temporally feasible in industrial or research settings.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3566160"/>
          </a:xfrm>
          <a:prstGeom prst="rect">
            <a:avLst/>
          </a:prstGeom>
          <a:solidFill>
            <a:srgbClr val="13284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20700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072" y="1591056"/>
            <a:ext cx="2368296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on physicochemical descriptors can predict activity in milliseconds, enabling high-throughput virtual screening before any lab work begins.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75488" cy="1664208"/>
          </a:xfrm>
          <a:prstGeom prst="rect">
            <a:avLst/>
          </a:prstGeom>
          <a:solidFill>
            <a:srgbClr val="0E3460"/>
          </a:solidFill>
          <a:ln w="12700">
            <a:solidFill>
              <a:srgbClr val="0E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754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52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synthetic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1848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500 catalyst samples with realistic physicochemical features and physically plausible activity relationships.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475488" cy="1664208"/>
          </a:xfrm>
          <a:prstGeom prst="rect">
            <a:avLst/>
          </a:prstGeom>
          <a:solidFill>
            <a:srgbClr val="0E3460"/>
          </a:solidFill>
          <a:ln w="12700">
            <a:solidFill>
              <a:srgbClr val="0E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4754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252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modelling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61848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six regression algorithms to predict continuous catalytic activity values (R², MSE metrics).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75488" cy="1664208"/>
          </a:xfrm>
          <a:prstGeom prst="rect">
            <a:avLst/>
          </a:prstGeom>
          <a:solidFill>
            <a:srgbClr val="0E3460"/>
          </a:solidFill>
          <a:ln w="12700">
            <a:solidFill>
              <a:srgbClr val="0E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4754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modelling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49300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problem to binary (High / Low activity) and benchmark four classifiers for rapid go/no-go decisions.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475488" cy="1664208"/>
          </a:xfrm>
          <a:prstGeom prst="rect">
            <a:avLst/>
          </a:prstGeom>
          <a:solidFill>
            <a:srgbClr val="0E3460"/>
          </a:solidFill>
          <a:ln w="12700">
            <a:solidFill>
              <a:srgbClr val="0E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17520"/>
            <a:ext cx="4754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 &amp; Visualisation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49300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feature importance plots, correlation heatmaps, and actual-vs-predicted scatter charts for interpretability.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Approach: Dual-Mode ML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learning tasks address distinct industrial needs: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023360" cy="3108960"/>
          </a:xfrm>
          <a:prstGeom prst="rect">
            <a:avLst/>
          </a:prstGeom>
          <a:solidFill>
            <a:srgbClr val="0A254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72768"/>
            <a:ext cx="40233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exact activity score (continuous)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models: Linear, Ridge, Lasso, DT, RF, KNN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R² and Mean Squared Error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precise catalyst ranking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activity value in original units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572768"/>
            <a:ext cx="4023360" cy="3108960"/>
          </a:xfrm>
          <a:prstGeom prst="rect">
            <a:avLst/>
          </a:prstGeom>
          <a:solidFill>
            <a:srgbClr val="0A25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72768"/>
            <a:ext cx="40233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72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decision: High vs Low activity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models: Logistic, KNN, DT, RF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Precision, Recall, F1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training-set median (no data leakage)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rapid go / no-go screening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Inputs &amp; Preprocessing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230428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Range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Units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Physical Significance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m²/g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site density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reactivity (↑ gap = ↓ activity)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 Loading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0.1–20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metal concentration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Reaction driving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Reactant fugacity / contact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(target)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a.u.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Catalytic activity score (regression 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47872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4" name="Shape 3"/>
          <p:cNvSpPr/>
          <p:nvPr/>
        </p:nvSpPr>
        <p:spPr>
          <a:xfrm>
            <a:off x="1115568" y="3401568"/>
            <a:ext cx="502920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34015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 Imputation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97764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values missing per feature. Median used (robust to outliers vs mean).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96312" y="3547872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3401568"/>
            <a:ext cx="502920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4015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87752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/ Target Split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87752" y="397764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 physicochemical features. y = continuous activity score.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26864" y="3547872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76672" y="3401568"/>
            <a:ext cx="502920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34015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18304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18304" y="397764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unit-variance normalisation. Critical for Linear &amp; KNN models.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57416" y="3547872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07224" y="3401568"/>
            <a:ext cx="502920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7224" y="34015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48856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 Train-Test Split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48856" y="397764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random_state=42 for full reproducibility across runs.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Architecture: Algorithm Portfolio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MODELS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MODELS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5394960" cy="493776"/>
          </a:xfrm>
          <a:prstGeom prst="rect">
            <a:avLst/>
          </a:prstGeom>
          <a:solidFill>
            <a:srgbClr val="0D2B45"/>
          </a:solidFill>
          <a:ln w="12700">
            <a:solidFill>
              <a:srgbClr val="1E4D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270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fits global linear hyperplane. Interpretable coefficients reveal feature contribution direction.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5394960" cy="493776"/>
          </a:xfrm>
          <a:prstGeom prst="rect">
            <a:avLst/>
          </a:prstGeom>
          <a:solidFill>
            <a:srgbClr val="0D2B45"/>
          </a:solidFill>
          <a:ln w="12700">
            <a:solidFill>
              <a:srgbClr val="1E4D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9397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Ridge (α=1.0)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29514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 — shrinks large weights to reduce overfitting while retaining all features.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5394960" cy="493776"/>
          </a:xfrm>
          <a:prstGeom prst="rect">
            <a:avLst/>
          </a:prstGeom>
          <a:solidFill>
            <a:srgbClr val="0D2B45"/>
          </a:solidFill>
          <a:ln w="12700">
            <a:solidFill>
              <a:srgbClr val="1E4D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609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Lasso (α=0.1)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28620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regularisation — can zero-out irrelevant features, providing implicit feature selection.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5394960" cy="493776"/>
          </a:xfrm>
          <a:prstGeom prst="rect">
            <a:avLst/>
          </a:prstGeom>
          <a:solidFill>
            <a:srgbClr val="0D2B45"/>
          </a:solidFill>
          <a:ln w="12700">
            <a:solidFill>
              <a:srgbClr val="1E4D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278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 (d≤5)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axis-parallel splits. Depth cap controls variance. Provides feature importances.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5394960" cy="493776"/>
          </a:xfrm>
          <a:prstGeom prst="rect">
            <a:avLst/>
          </a:prstGeom>
          <a:solidFill>
            <a:srgbClr val="0D2B45"/>
          </a:solidFill>
          <a:ln w="12700">
            <a:solidFill>
              <a:srgbClr val="1E4D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947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(100 trees, d≤8)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39959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ensemble of decision trees. Reduces variance via averaging. Most robust model.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5394960" cy="493776"/>
          </a:xfrm>
          <a:prstGeom prst="rect">
            <a:avLst/>
          </a:prstGeom>
          <a:solidFill>
            <a:srgbClr val="0D2B45"/>
          </a:solidFill>
          <a:ln w="12700">
            <a:solidFill>
              <a:srgbClr val="1E4D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616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KNN Regressor (k=5)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45628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— predicts from 5 nearest scaled neighbours. No explicit training.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481328"/>
            <a:ext cx="2834640" cy="749808"/>
          </a:xfrm>
          <a:prstGeom prst="rect">
            <a:avLst/>
          </a:prstGeom>
          <a:solidFill>
            <a:srgbClr val="0A2D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1792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linear classifier (max_iter=1000).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350008"/>
            <a:ext cx="2834640" cy="749808"/>
          </a:xfrm>
          <a:prstGeom prst="rect">
            <a:avLst/>
          </a:prstGeom>
          <a:solidFill>
            <a:srgbClr val="0A2D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KNN Classifier (k=5)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2660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from 5 nearest neighbours.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218688"/>
            <a:ext cx="2834640" cy="749808"/>
          </a:xfrm>
          <a:prstGeom prst="rect">
            <a:avLst/>
          </a:prstGeom>
          <a:solidFill>
            <a:srgbClr val="0A2D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264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 (d≤5)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35295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split tree for class boundaries.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4087368"/>
            <a:ext cx="2834640" cy="749808"/>
          </a:xfrm>
          <a:prstGeom prst="rect">
            <a:avLst/>
          </a:prstGeom>
          <a:solidFill>
            <a:srgbClr val="0A2D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(100 trees)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43982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voting for robust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463040"/>
            <a:ext cx="1097280" cy="1280160"/>
          </a:xfrm>
          <a:prstGeom prst="rect">
            <a:avLst/>
          </a:prstGeom>
          <a:solidFill>
            <a:srgbClr val="0E3460"/>
          </a:solidFill>
          <a:ln w="12700">
            <a:solidFill>
              <a:srgbClr val="0E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Generation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generate_dataset()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17320" y="2103120"/>
            <a:ext cx="137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463040"/>
            <a:ext cx="109728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5448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2103120"/>
            <a:ext cx="137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463040"/>
            <a:ext cx="1097280" cy="12801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8892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8892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run_eda()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86200" y="2103120"/>
            <a:ext cx="137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1463040"/>
            <a:ext cx="1097280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2336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2336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run_regression()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2103120"/>
            <a:ext cx="137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1463040"/>
            <a:ext cx="1097280" cy="12801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5780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run_classification()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2103120"/>
            <a:ext cx="137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1463040"/>
            <a:ext cx="1097280" cy="12801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9224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plot_*()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2103120"/>
            <a:ext cx="137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1463040"/>
            <a:ext cx="1097280" cy="12801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2668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2668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72668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report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1–2: 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5760" y="3310128"/>
            <a:ext cx="2834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synthetic samples generated with realistic feature-activity correlations. Missing values (~5%) imputed by median. Features scaled, split 80/20.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9184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3–4: 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291840" y="3310128"/>
            <a:ext cx="2834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produces correlation heatmap + distributions. Six regression models fit on train set, scored on test set using R² and MSE.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1792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5–7: 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217920" y="3310128"/>
            <a:ext cx="2834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threshold (train set only) converts to binary labels. Four classifiers scored. Visualisations saved. Best model per task reported.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Algorithms &amp;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206240" cy="1170432"/>
          </a:xfrm>
          <a:prstGeom prst="rect">
            <a:avLst/>
          </a:prstGeom>
          <a:solidFill>
            <a:srgbClr val="0D2438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StandardScaler (Z-score normalisation)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each feature to μ=0, σ=1. Essential for distance-based models (KNN) and penalised linear models (Ridge, Lasso) that are sensitive to feature scale.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206240" cy="1170432"/>
          </a:xfrm>
          <a:prstGeom prst="rect">
            <a:avLst/>
          </a:prstGeom>
          <a:solidFill>
            <a:srgbClr val="0D2438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143000"/>
            <a:ext cx="54864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16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(Bagging Ensemble)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100 decision trees on bootstrapped samples with feature subsampling. Averages predictions to reduce variance. Produces feature importances via mean impurity decrease.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206240" cy="1170432"/>
          </a:xfrm>
          <a:prstGeom prst="rect">
            <a:avLst/>
          </a:prstGeom>
          <a:solidFill>
            <a:srgbClr val="0D2438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23160"/>
            <a:ext cx="54864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Regularised Linear Models (Ridge / Lasso)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penalises large coefficients via L2 norm; Lasso via L1 norm, enabling automatic feature selection. Both prevent overfitting on correlated input features.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206240" cy="1170432"/>
          </a:xfrm>
          <a:prstGeom prst="rect">
            <a:avLst/>
          </a:prstGeom>
          <a:solidFill>
            <a:srgbClr val="0D2438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423160"/>
            <a:ext cx="54864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Train-Median Threshold (No Data Leakage)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threshold computed only from training labels. Applying test-set statistics would inflate accuracy metrics — a common but critical mistake in ML pipelines.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206240" cy="1170432"/>
          </a:xfrm>
          <a:prstGeom prst="rect">
            <a:avLst/>
          </a:prstGeom>
          <a:solidFill>
            <a:srgbClr val="0D2438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03320"/>
            <a:ext cx="54864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76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and MSE (Regression Metrics)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fraction of variance explained (1.0 = perfect). MSE measures average squared prediction error in original units. Both together capture fit quality and error magnitude.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03320"/>
            <a:ext cx="4206240" cy="1170432"/>
          </a:xfrm>
          <a:prstGeom prst="rect">
            <a:avLst/>
          </a:prstGeom>
          <a:solidFill>
            <a:srgbClr val="0D2438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703320"/>
            <a:ext cx="54864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76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(Tree Models)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6908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average reduction in node impurity (MSE for regression) across all trees. Identifies which physicochemical descriptor most influences predicted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78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Model Comparison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633394"/>
              </p:ext>
            </p:extLst>
          </p:nvPr>
        </p:nvGraphicFramePr>
        <p:xfrm>
          <a:off x="365760" y="1374583"/>
          <a:ext cx="3728854" cy="2167168"/>
        </p:xfrm>
        <a:graphic>
          <a:graphicData uri="http://schemas.openxmlformats.org/drawingml/2006/table">
            <a:tbl>
              <a:tblPr/>
              <a:tblGrid>
                <a:gridCol w="20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8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6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~0.8927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~360.14</a:t>
                      </a: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8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~612.02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/ Lasso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~0.921/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~265.10/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264.48</a:t>
                      </a: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8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~264.75</a:t>
                      </a: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Regressor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~0.8071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~647.43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078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Model Comparison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65760" y="3657600"/>
            <a:ext cx="20299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D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7033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Regressor</a:t>
            </a:r>
            <a:endParaRPr lang="en-US" sz="1100" dirty="0"/>
          </a:p>
        </p:txBody>
      </p:sp>
      <p:sp>
        <p:nvSpPr>
          <p:cNvPr id="5" name="Text 6"/>
          <p:cNvSpPr/>
          <p:nvPr/>
        </p:nvSpPr>
        <p:spPr>
          <a:xfrm>
            <a:off x="365760" y="3968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/>
              <a:t>LASSO </a:t>
            </a:r>
          </a:p>
        </p:txBody>
      </p:sp>
      <p:sp>
        <p:nvSpPr>
          <p:cNvPr id="11" name="Text 7"/>
          <p:cNvSpPr/>
          <p:nvPr/>
        </p:nvSpPr>
        <p:spPr>
          <a:xfrm>
            <a:off x="365760" y="4352544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0.9212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560320" y="3657600"/>
            <a:ext cx="20299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D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0" y="37033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Classifier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3968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460"/>
                </a:solidFill>
                <a:latin typeface="Trebuchet MS" pitchFamily="34" charset="0"/>
              </a:rPr>
              <a:t>logistic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560320" y="4352544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≈0.94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3657600"/>
            <a:ext cx="20299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D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37033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Model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54880" y="3968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KNN</a:t>
            </a:r>
            <a:endParaRPr lang="en-US" sz="1600" dirty="0"/>
          </a:p>
        </p:txBody>
      </p:sp>
      <p:sp>
        <p:nvSpPr>
          <p:cNvPr id="7" name="Text 15"/>
          <p:cNvSpPr/>
          <p:nvPr/>
        </p:nvSpPr>
        <p:spPr>
          <a:xfrm>
            <a:off x="4754880" y="4352544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training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949440" y="3657600"/>
            <a:ext cx="20299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D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7033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Interpretable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949440" y="3968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Lasso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949440" y="4352544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selection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7F589C2-01BF-A184-B8F9-97BF8842F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494" y="1371600"/>
            <a:ext cx="4701914" cy="22070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411480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ADVANTAGES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extensible pipeline — swap in real CSV with one 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diversity: linear to ensemble methods covered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Dual-mode: regression for precision, classification for screening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 — threshold derived from training set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plots aid scientific interpretability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fixed random_state=42 throughout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larger datasets without code changes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078992"/>
            <a:ext cx="411480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7899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✘ 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572768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 real experimental validation performed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formula is linear; real catalysis is highly non-linear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cross-validation — single train/test split may be fragile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optimisation (e.g., GridSearchCV absent)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features only — ignores crystal structure, porosity, etc.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uncertainty quantification on predictions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domain-specific feature engineering or graph representations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in Industry &amp;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15568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2070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⚗️  Heterogeneous Catalysis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" y="1591056"/>
            <a:ext cx="2578608" cy="228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642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ammonia synthesis, Fischer-Tropsch, and steam reforming catalysts in silico before any lab synthesis.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115568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12070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 Electrocatalysis &amp; Fuel Cells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4136" y="1591056"/>
            <a:ext cx="2578608" cy="228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6642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oxygen reduction reaction (ORR) activity of Pt alloys to accelerate PEM fuel cell development.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115568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18504" y="12070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Green Chemistry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18504" y="1591056"/>
            <a:ext cx="2578608" cy="228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6642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catalysts for CO₂ hydrogenation and biomass conversion reactions, supporting net-zero chemical manufacturing.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1272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Pharma &amp; Fine Chemicals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" y="3511296"/>
            <a:ext cx="2578608" cy="228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58444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enantioselective catalyst discovery for asymmetric synthesis of active pharmaceutical ingredients.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64408" y="3035808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74136" y="31272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🏭  Refinery Optimisation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74136" y="3511296"/>
            <a:ext cx="2578608" cy="228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58444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cracking and hydrodesulphurisation catalyst lifetimes to optimise refinery catalyst replacement cycles.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08776" y="3035808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18504" y="31272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Materials Informatics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18504" y="3511296"/>
            <a:ext cx="2578608" cy="228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358444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high-throughput DFT databases (Materials Project, AFLOW) for data-driven materials screening.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 &amp;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00584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Near-Term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17320" y="1143000"/>
            <a:ext cx="7360920" cy="1097280"/>
          </a:xfrm>
          <a:prstGeom prst="rect">
            <a:avLst/>
          </a:prstGeom>
          <a:solidFill>
            <a:srgbClr val="0D24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234440"/>
            <a:ext cx="7086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synthetic data with real experimental or DFT-computed datasets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k-fold cross-validation for more robust model evaluation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GridSearchCV / Optuna for automated hyperparameter tuning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404872"/>
            <a:ext cx="1005840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04872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Mid-Term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2404872"/>
            <a:ext cx="7360920" cy="1097280"/>
          </a:xfrm>
          <a:prstGeom prst="rect">
            <a:avLst/>
          </a:prstGeom>
          <a:solidFill>
            <a:srgbClr val="0D2438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496312"/>
            <a:ext cx="7086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XGBoost, LightGBM, and CatBoost for gradient-boosted benchmarks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SHAP (SHapley Additive exPlanations) for global + local interpretability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uncertainty quantification with Monte Carlo Dropout or conformal prediction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666744"/>
            <a:ext cx="10058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66744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17320" y="3666744"/>
            <a:ext cx="7360920" cy="1097280"/>
          </a:xfrm>
          <a:prstGeom prst="rect">
            <a:avLst/>
          </a:prstGeom>
          <a:solidFill>
            <a:srgbClr val="0D243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758184"/>
            <a:ext cx="7086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Graph Neural Networks (GNNs) for structure-aware predictions using atomic graphs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REST API / web app for lab-facing high-throughput screening queries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loop: active learning to guide next experiments based on uncertainty estimates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Visualisations (from Code Output)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15568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54864" cy="12984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Correlation Heatmap + Distributions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" y="14996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 on: Slide 5 (Data)  |  Output file: outputs/eda_plots.png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feature-activity correlations and univariate distributions. Insert after the preprocessing 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15568"/>
            <a:ext cx="54864" cy="12984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Actual vs Predicted (6 models)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37176" y="14996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 on: Slide 9 (Results)  |  Output file: outputs/regression_actual_vs_predicted.png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37176" y="1737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2×3 scatter grid. Points near the red dashed line = good fit. Visually compare model quality.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54864" cy="12984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Feature Importance (DT + RF)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" y="2944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 on: Slide 9 (Results)  |  Output file: outputs/feature_importance.png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" y="31821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charts ranked by importance. Surface area and temperature typically dominate.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60320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560320"/>
            <a:ext cx="54864" cy="12984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Confusion Matrices (4 classifiers)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37176" y="2944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 on: Slide 9 (Results)  |  Output file: outputs/confusion_matrices.png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31821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showing True Positive / False Positive rates for each classifier side by side.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8412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05072"/>
            <a:ext cx="54864" cy="12984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4078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Model Comparison Bar Chart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 on: Slide 9 (Results)  |  Output file: outputs/model_comparison.png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" y="46268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bar = best model. Quick executive summary of R² (regression) and Accuracy (classification).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modular ML pipeline for catalytic activity prediction was designed and implemented in Python.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regression and four classification algorithms were benchmarked — Random Forest achieved top performance on both tasks.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dual-mode design addresses both precise activity quantification (regression) and rapid binary screening (classification).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data-science hygiene was maintained: no leakage, reproducible seeds, and median-based thresholding.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drop-in ready for real experimental or DFT datasets with minimal code changes.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integration with GNNs, active learning, and REST APIs will unlock industrial-scale catalyst discovery.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|  Code available on request  |  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2317</Words>
  <Application>Microsoft Office PowerPoint</Application>
  <PresentationFormat>On-screen Show (16:9)</PresentationFormat>
  <Paragraphs>277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Catalytic Activity Prediction</dc:title>
  <dc:subject>PptxGenJS Presentation</dc:subject>
  <dc:creator>PptxGenJS</dc:creator>
  <cp:lastModifiedBy>Prasanna BG</cp:lastModifiedBy>
  <cp:revision>3</cp:revision>
  <dcterms:created xsi:type="dcterms:W3CDTF">2026-04-18T09:12:54Z</dcterms:created>
  <dcterms:modified xsi:type="dcterms:W3CDTF">2026-04-19T09:08:36Z</dcterms:modified>
</cp:coreProperties>
</file>